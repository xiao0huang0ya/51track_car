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8941C-B625-D8FC-DA04-98C3FC8891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智能车驱动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55B873-79E3-B895-46AA-C8D0B10D66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pPr algn="r"/>
            <a:r>
              <a:rPr lang="zh-CN" altLang="en-US" dirty="0"/>
              <a:t>主讲人：魏咏琳</a:t>
            </a:r>
            <a:endParaRPr lang="en-US" altLang="zh-CN" dirty="0"/>
          </a:p>
          <a:p>
            <a:pPr algn="r"/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10</a:t>
            </a:r>
            <a:r>
              <a:rPr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413352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67489-2479-63E3-EC09-0FCFC8D85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070" y="1736531"/>
            <a:ext cx="9905999" cy="3541714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dirty="0"/>
              <a:t>电机</a:t>
            </a:r>
            <a:endParaRPr lang="en-US" altLang="zh-CN" sz="4400" dirty="0"/>
          </a:p>
          <a:p>
            <a:pPr algn="ctr"/>
            <a:r>
              <a:rPr lang="en-US" altLang="zh-CN" sz="4400" dirty="0"/>
              <a:t>H</a:t>
            </a:r>
            <a:r>
              <a:rPr lang="zh-CN" altLang="en-US" sz="4400" dirty="0"/>
              <a:t>桥电路</a:t>
            </a:r>
            <a:endParaRPr lang="en-US" altLang="zh-CN" sz="4400" dirty="0"/>
          </a:p>
          <a:p>
            <a:pPr algn="ctr"/>
            <a:r>
              <a:rPr lang="zh-CN" altLang="en-US" sz="4400" dirty="0"/>
              <a:t>驱动方式举例（</a:t>
            </a:r>
            <a:r>
              <a:rPr lang="en-US" altLang="zh-CN" sz="4400" dirty="0"/>
              <a:t>L298N</a:t>
            </a:r>
            <a:r>
              <a:rPr lang="zh-CN" altLang="en-US" sz="4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118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17C8A-6EA0-B6F4-8C32-1D91EEAC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什么是电机？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A513C-F1E6-8D05-CA89-0C39545E3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-apple-system"/>
              </a:rPr>
              <a:t>电机是一种可以在电能和机械能之间互相转换的设备。比如发电机是把机械能转换为电能，而电动机是把电能转换为机械能。电动机的应用比较广泛。我们谈论电机时更多的是讨论电动机。</a:t>
            </a:r>
            <a:endParaRPr lang="en-US" altLang="zh-CN" sz="28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endParaRPr lang="en-US" altLang="zh-CN" b="1" dirty="0">
              <a:solidFill>
                <a:srgbClr val="111111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39532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6DF80-6F1D-E448-86B7-00682147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电机的分类：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E39F7E-F9AB-72F4-2896-B3C8812A2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-apple-system"/>
              </a:rPr>
              <a:t>电机的分类可以按照工作电源种类、按照结构和工作原理、按照启动与运行方式、按照用途、按照运转速度等来划分。而实际应用中工程师往往按照电机特性来分。比如对速度要求高时选择</a:t>
            </a:r>
            <a:r>
              <a:rPr lang="zh-CN" altLang="en-US" sz="2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直流电机</a:t>
            </a:r>
            <a:r>
              <a:rPr lang="zh-CN" altLang="en-US" sz="2800" b="0" i="0" dirty="0">
                <a:solidFill>
                  <a:schemeClr val="bg1"/>
                </a:solidFill>
                <a:effectLst/>
                <a:latin typeface="-apple-system"/>
              </a:rPr>
              <a:t>，对精度要求高会选择步进电机等。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1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0022E-C8E2-7251-3AC6-FCC336E8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39337"/>
            <a:ext cx="9905999" cy="5151864"/>
          </a:xfrm>
        </p:spPr>
        <p:txBody>
          <a:bodyPr>
            <a:normAutofit/>
          </a:bodyPr>
          <a:lstStyle/>
          <a:p>
            <a:r>
              <a:rPr lang="zh-CN" altLang="en-US" dirty="0"/>
              <a:t>直流电机：</a:t>
            </a:r>
            <a:r>
              <a:rPr lang="zh-CN" altLang="en-US" sz="1800" dirty="0">
                <a:solidFill>
                  <a:schemeClr val="bg1"/>
                </a:solidFill>
                <a:latin typeface="-apple-system"/>
              </a:rPr>
              <a:t>包括直流有刷电机、直流有刷减速电机、直流无刷电机、直流无刷减速电机四种。</a:t>
            </a:r>
            <a:endParaRPr lang="en-US" altLang="zh-CN" sz="1800" dirty="0">
              <a:solidFill>
                <a:schemeClr val="bg1"/>
              </a:solidFill>
              <a:latin typeface="-apple-system"/>
            </a:endParaRPr>
          </a:p>
          <a:p>
            <a:r>
              <a:rPr lang="zh-CN" altLang="en-US" sz="1800" dirty="0">
                <a:solidFill>
                  <a:schemeClr val="bg1"/>
                </a:solidFill>
                <a:latin typeface="-apple-system"/>
              </a:rPr>
              <a:t>直流有刷电机：由一个旋转的转子和一个固定的定子组成，通过碳刷和电刷的接触来传递电流。</a:t>
            </a:r>
            <a:endParaRPr lang="en-US" altLang="zh-CN" sz="1800" dirty="0">
              <a:solidFill>
                <a:schemeClr val="bg1"/>
              </a:solidFill>
              <a:latin typeface="-apple-system"/>
            </a:endParaRPr>
          </a:p>
          <a:p>
            <a:r>
              <a:rPr lang="zh-CN" altLang="en-US" sz="1800" dirty="0">
                <a:solidFill>
                  <a:schemeClr val="bg1"/>
                </a:solidFill>
                <a:latin typeface="-apple-system"/>
              </a:rPr>
              <a:t>直流无刷电机：通过电子控制器来实现转子的精确控制，从而提高效率并降低能耗。</a:t>
            </a:r>
            <a:endParaRPr lang="en-US" altLang="zh-CN" sz="1800" dirty="0">
              <a:solidFill>
                <a:schemeClr val="bg1"/>
              </a:solidFill>
              <a:latin typeface="-apple-system"/>
            </a:endParaRPr>
          </a:p>
          <a:p>
            <a:r>
              <a:rPr lang="zh-CN" altLang="en-US" dirty="0"/>
              <a:t>步进电机：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一种可以将脉冲信号转换为角位移或线位移的开环控制电机。</a:t>
            </a:r>
            <a:endParaRPr lang="en-US" altLang="zh-CN" sz="1800" dirty="0">
              <a:solidFill>
                <a:schemeClr val="bg1"/>
              </a:solidFill>
            </a:endParaRPr>
          </a:p>
          <a:p>
            <a:r>
              <a:rPr lang="zh-CN" altLang="en-US" b="0" i="0" dirty="0">
                <a:effectLst/>
                <a:latin typeface="-apple-system"/>
              </a:rPr>
              <a:t>伺服电机：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可理解为绝对服从控制电机。分为直流和交流伺服电机两大类。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zh-CN" altLang="en-US" dirty="0">
                <a:latin typeface="-apple-system"/>
              </a:rPr>
              <a:t>               </a:t>
            </a:r>
            <a:r>
              <a:rPr lang="zh-CN" altLang="en-US" sz="2000" dirty="0">
                <a:solidFill>
                  <a:schemeClr val="bg1"/>
                </a:solidFill>
                <a:latin typeface="-apple-system"/>
              </a:rPr>
              <a:t>舵机：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一种常见伺服电机，由小型直流电机、控制电路板、电位计和齿轮组构成，分类上可以根据信号类型、按照齿轮、按照用途划分。可分为</a:t>
            </a:r>
            <a:r>
              <a:rPr lang="en-US" altLang="zh-CN" sz="1800" b="0" i="0" dirty="0">
                <a:solidFill>
                  <a:schemeClr val="bg1"/>
                </a:solidFill>
                <a:effectLst/>
                <a:latin typeface="-apple-system"/>
              </a:rPr>
              <a:t>90°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en-US" altLang="zh-CN" sz="1800" b="0" i="0" dirty="0">
                <a:solidFill>
                  <a:schemeClr val="bg1"/>
                </a:solidFill>
                <a:effectLst/>
                <a:latin typeface="-apple-system"/>
              </a:rPr>
              <a:t>180°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en-US" altLang="zh-CN" sz="1800" b="0" i="0" dirty="0">
                <a:solidFill>
                  <a:schemeClr val="bg1"/>
                </a:solidFill>
                <a:effectLst/>
                <a:latin typeface="-apple-system"/>
              </a:rPr>
              <a:t>270°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en-US" altLang="zh-CN" sz="1800" b="0" i="0" dirty="0">
                <a:solidFill>
                  <a:schemeClr val="bg1"/>
                </a:solidFill>
                <a:effectLst/>
                <a:latin typeface="-apple-system"/>
              </a:rPr>
              <a:t>360°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舵机，其中</a:t>
            </a:r>
            <a:r>
              <a:rPr lang="en-US" altLang="zh-CN" sz="1800" b="0" i="0" dirty="0">
                <a:solidFill>
                  <a:schemeClr val="bg1"/>
                </a:solidFill>
                <a:effectLst/>
                <a:latin typeface="-apple-system"/>
              </a:rPr>
              <a:t>180°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latin typeface="-apple-system"/>
              </a:rPr>
              <a:t>舵机最常见。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1800" b="0" i="0" dirty="0">
                <a:solidFill>
                  <a:srgbClr val="B4B4B4"/>
                </a:solidFill>
                <a:effectLst/>
                <a:latin typeface="-apple-system"/>
              </a:rPr>
              <a:t>      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7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8F1DA-2C55-B5F8-DFF4-08A8411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9469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H</a:t>
            </a:r>
            <a:r>
              <a:rPr lang="zh-CN" altLang="en-US" dirty="0"/>
              <a:t>桥电路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FAC6B1-DDB6-A260-ED70-727F2F610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22556"/>
            <a:ext cx="9905999" cy="4668645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H</a:t>
            </a:r>
            <a:r>
              <a:rPr lang="zh-CN" altLang="en-US" sz="2000" dirty="0"/>
              <a:t>桥是什么电路？</a:t>
            </a:r>
          </a:p>
          <a:p>
            <a:r>
              <a:rPr lang="zh-CN" altLang="en-US" sz="2000" dirty="0">
                <a:solidFill>
                  <a:schemeClr val="bg1"/>
                </a:solidFill>
              </a:rPr>
              <a:t>简单来说，</a:t>
            </a:r>
            <a:r>
              <a:rPr lang="en-US" altLang="zh-CN" sz="2000" dirty="0">
                <a:solidFill>
                  <a:schemeClr val="bg1"/>
                </a:solidFill>
              </a:rPr>
              <a:t>H</a:t>
            </a:r>
            <a:r>
              <a:rPr lang="zh-CN" altLang="en-US" sz="2000" dirty="0">
                <a:solidFill>
                  <a:schemeClr val="bg1"/>
                </a:solidFill>
              </a:rPr>
              <a:t>桥就是一个简单的电路，包含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个开关元件，负载位于中心，呈</a:t>
            </a:r>
            <a:r>
              <a:rPr lang="en-US" altLang="zh-CN" sz="2000" dirty="0">
                <a:solidFill>
                  <a:schemeClr val="bg1"/>
                </a:solidFill>
              </a:rPr>
              <a:t>H</a:t>
            </a:r>
            <a:r>
              <a:rPr lang="zh-CN" altLang="en-US" sz="2000" dirty="0">
                <a:solidFill>
                  <a:schemeClr val="bg1"/>
                </a:solidFill>
              </a:rPr>
              <a:t>型。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H </a:t>
            </a:r>
            <a:r>
              <a:rPr lang="zh-CN" altLang="en-US" sz="2000" dirty="0">
                <a:solidFill>
                  <a:schemeClr val="bg1"/>
                </a:solidFill>
              </a:rPr>
              <a:t>桥电路可以切换附加负载的极性。</a:t>
            </a:r>
            <a:r>
              <a:rPr lang="en-US" altLang="zh-CN" sz="2000" dirty="0">
                <a:solidFill>
                  <a:schemeClr val="bg1"/>
                </a:solidFill>
              </a:rPr>
              <a:t>H </a:t>
            </a:r>
            <a:r>
              <a:rPr lang="zh-CN" altLang="en-US" sz="2000" dirty="0">
                <a:solidFill>
                  <a:schemeClr val="bg1"/>
                </a:solidFill>
              </a:rPr>
              <a:t>桥最常见的用途是驱动直流电机，实现方向控制。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1800" dirty="0">
                <a:solidFill>
                  <a:schemeClr val="bg1"/>
                </a:solidFill>
              </a:rPr>
              <a:t>桥的顶端连接到电源（电池）、底端接地。虽然有一些限制，但是通常</a:t>
            </a:r>
            <a:r>
              <a:rPr lang="en-US" altLang="zh-CN" sz="1800" dirty="0">
                <a:solidFill>
                  <a:schemeClr val="bg1"/>
                </a:solidFill>
              </a:rPr>
              <a:t>4</a:t>
            </a:r>
            <a:r>
              <a:rPr lang="zh-CN" altLang="en-US" sz="1800" dirty="0">
                <a:solidFill>
                  <a:schemeClr val="bg1"/>
                </a:solidFill>
              </a:rPr>
              <a:t>个开关元件可以独立打开和关闭。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3FD016-9DCD-A8C6-B5E2-36E5E1FB2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32" y="3429000"/>
            <a:ext cx="391779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7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14A50-21AF-E435-55EF-1B0EAB0C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0350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H</a:t>
            </a:r>
            <a:r>
              <a:rPr lang="zh-CN" altLang="en-US" sz="2800" dirty="0"/>
              <a:t>桥电路详解：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9ED6BB-2495-AC38-DA8A-D10F3A3CC8F3}"/>
              </a:ext>
            </a:extLst>
          </p:cNvPr>
          <p:cNvSpPr txBox="1"/>
          <p:nvPr/>
        </p:nvSpPr>
        <p:spPr>
          <a:xfrm>
            <a:off x="966439" y="1613210"/>
            <a:ext cx="32189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       H</a:t>
            </a:r>
            <a:r>
              <a:rPr lang="zh-CN" altLang="en-US" dirty="0">
                <a:solidFill>
                  <a:schemeClr val="bg1"/>
                </a:solidFill>
              </a:rPr>
              <a:t>桥的基本工作模式相当简单：如果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dirty="0">
                <a:solidFill>
                  <a:schemeClr val="bg1"/>
                </a:solidFill>
              </a:rPr>
              <a:t>Q4</a:t>
            </a:r>
            <a:r>
              <a:rPr lang="zh-CN" altLang="en-US" dirty="0">
                <a:solidFill>
                  <a:schemeClr val="bg1"/>
                </a:solidFill>
              </a:rPr>
              <a:t>导通，电机的左侧引线将连接到电源，而右侧引线接地，电流开始流过电机，电机正向通电，电机轴开始旋转。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8EDA29-134A-0D9D-E0A8-C063372A6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82" y="3429000"/>
            <a:ext cx="2571750" cy="2514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40DB4AF-0B52-57AB-4617-6081E62902EE}"/>
              </a:ext>
            </a:extLst>
          </p:cNvPr>
          <p:cNvSpPr txBox="1"/>
          <p:nvPr/>
        </p:nvSpPr>
        <p:spPr>
          <a:xfrm>
            <a:off x="4570412" y="1613210"/>
            <a:ext cx="2907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如果 </a:t>
            </a:r>
            <a:r>
              <a:rPr lang="en-US" altLang="zh-CN" dirty="0">
                <a:solidFill>
                  <a:schemeClr val="bg1"/>
                </a:solidFill>
              </a:rPr>
              <a:t>Q2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US" altLang="zh-CN" dirty="0">
                <a:solidFill>
                  <a:schemeClr val="bg1"/>
                </a:solidFill>
              </a:rPr>
              <a:t>Q3 </a:t>
            </a:r>
            <a:r>
              <a:rPr lang="zh-CN" altLang="en-US" dirty="0">
                <a:solidFill>
                  <a:schemeClr val="bg1"/>
                </a:solidFill>
              </a:rPr>
              <a:t>导通，则会发生反转，电机将反向通电，轴将开始向后旋转。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B50408-DBC8-F99C-E451-36D8C437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64" y="3407627"/>
            <a:ext cx="2676293" cy="25573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E104FE-AEC1-F047-22F3-8FD63282627D}"/>
              </a:ext>
            </a:extLst>
          </p:cNvPr>
          <p:cNvSpPr txBox="1"/>
          <p:nvPr/>
        </p:nvSpPr>
        <p:spPr>
          <a:xfrm>
            <a:off x="7753815" y="1427411"/>
            <a:ext cx="3678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在桥接器中，不要同时导通 </a:t>
            </a:r>
            <a:r>
              <a:rPr lang="en-US" altLang="zh-CN" dirty="0">
                <a:solidFill>
                  <a:schemeClr val="bg1"/>
                </a:solidFill>
              </a:rPr>
              <a:t>Q1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US" altLang="zh-CN" dirty="0">
                <a:solidFill>
                  <a:schemeClr val="bg1"/>
                </a:solidFill>
              </a:rPr>
              <a:t>Q2</a:t>
            </a:r>
            <a:r>
              <a:rPr lang="zh-CN" altLang="en-US" dirty="0">
                <a:solidFill>
                  <a:schemeClr val="bg1"/>
                </a:solidFill>
              </a:rPr>
              <a:t>（或 </a:t>
            </a:r>
            <a:r>
              <a:rPr lang="en-US" altLang="zh-CN" dirty="0">
                <a:solidFill>
                  <a:schemeClr val="bg1"/>
                </a:solidFill>
              </a:rPr>
              <a:t>Q3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US" altLang="zh-CN" dirty="0">
                <a:solidFill>
                  <a:schemeClr val="bg1"/>
                </a:solidFill>
              </a:rPr>
              <a:t>Q4</a:t>
            </a:r>
            <a:r>
              <a:rPr lang="zh-CN" altLang="en-US" dirty="0">
                <a:solidFill>
                  <a:schemeClr val="bg1"/>
                </a:solidFill>
              </a:rPr>
              <a:t>），如果同时导通的话，就会在电源和</a:t>
            </a:r>
            <a:r>
              <a:rPr lang="en-US" altLang="zh-CN" dirty="0">
                <a:solidFill>
                  <a:schemeClr val="bg1"/>
                </a:solidFill>
              </a:rPr>
              <a:t>GND</a:t>
            </a:r>
            <a:r>
              <a:rPr lang="zh-CN" altLang="en-US" dirty="0">
                <a:solidFill>
                  <a:schemeClr val="bg1"/>
                </a:solidFill>
              </a:rPr>
              <a:t>之间创建了一个非常低电路路径，有效短路了电源，这种情况就被称为”击穿“，可能会损坏电路中的其他元件。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5C2861E-3624-F3A6-E3F5-0CA6DF7A7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970" y="3407628"/>
            <a:ext cx="2780273" cy="255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5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83AC8-5B07-629E-4A9A-B08FA6DC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20390"/>
            <a:ext cx="9905999" cy="1553737"/>
          </a:xfrm>
        </p:spPr>
        <p:txBody>
          <a:bodyPr/>
          <a:lstStyle/>
          <a:p>
            <a:r>
              <a:rPr lang="zh-CN" altLang="en-US" dirty="0"/>
              <a:t> 直流有刷电机通过</a:t>
            </a:r>
            <a:r>
              <a:rPr lang="en-US" altLang="zh-CN" dirty="0"/>
              <a:t>H</a:t>
            </a:r>
            <a:r>
              <a:rPr lang="zh-CN" altLang="en-US" dirty="0"/>
              <a:t>桥电路进行驱动，核心电路</a:t>
            </a:r>
            <a:r>
              <a:rPr lang="en-US" altLang="zh-CN" dirty="0"/>
              <a:t>H</a:t>
            </a:r>
            <a:r>
              <a:rPr lang="zh-CN" altLang="en-US" dirty="0"/>
              <a:t>桥加上一些必要的外围电路，共同组成直流有刷电机的驱动器。</a:t>
            </a:r>
            <a:r>
              <a:rPr lang="en-US" altLang="zh-CN" dirty="0"/>
              <a:t>H</a:t>
            </a:r>
            <a:r>
              <a:rPr lang="zh-CN" altLang="en-US" dirty="0"/>
              <a:t>桥本身可以作为集成电路使用，也可以由分立元件构成。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30368F-AE1D-8842-1177-25BA1CDE7F53}"/>
              </a:ext>
            </a:extLst>
          </p:cNvPr>
          <p:cNvSpPr txBox="1"/>
          <p:nvPr/>
        </p:nvSpPr>
        <p:spPr>
          <a:xfrm>
            <a:off x="1208049" y="4066478"/>
            <a:ext cx="9905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L298N</a:t>
            </a:r>
            <a:r>
              <a:rPr lang="zh-CN" altLang="en-US" sz="2000" dirty="0">
                <a:solidFill>
                  <a:schemeClr val="bg1"/>
                </a:solidFill>
              </a:rPr>
              <a:t>：一种双路全桥式电机驱动芯片，拥有工作电压高、输出电流大、驱动能力强、发热量低、抗干扰能力强等特点，通常用来驱动继电器、螺线管、电磁阀、直流电机以及步进电机。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bg1"/>
                </a:solidFill>
              </a:rPr>
              <a:t>L298N</a:t>
            </a:r>
            <a:r>
              <a:rPr lang="zh-CN" altLang="en-US" sz="2000" dirty="0">
                <a:solidFill>
                  <a:schemeClr val="bg1"/>
                </a:solidFill>
              </a:rPr>
              <a:t>通过控制主控芯片上的</a:t>
            </a:r>
            <a:r>
              <a:rPr lang="en-US" altLang="zh-CN" sz="2000" dirty="0">
                <a:solidFill>
                  <a:schemeClr val="bg1"/>
                </a:solidFill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</a:rPr>
              <a:t>输入端，直接通过电源来调节输出电压，即可实现电机的正转、反转、停止，由于电路简单，使用方便，通常情况下</a:t>
            </a:r>
            <a:r>
              <a:rPr lang="en-US" altLang="zh-CN" sz="2000" dirty="0">
                <a:solidFill>
                  <a:schemeClr val="bg1"/>
                </a:solidFill>
              </a:rPr>
              <a:t>L298N</a:t>
            </a:r>
            <a:r>
              <a:rPr lang="zh-CN" altLang="en-US" sz="2000" dirty="0">
                <a:solidFill>
                  <a:schemeClr val="bg1"/>
                </a:solidFill>
              </a:rPr>
              <a:t>可直接驱动继电器（四路）、螺线管、电磁阀、直流电机（两台）以及步进电机（一台两相或四相）。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4E48578-86AB-8050-3285-FCD5EC93F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481" y="1999785"/>
            <a:ext cx="6642139" cy="188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35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22C9512-356E-8FB1-D41F-717C90D197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088" y="832625"/>
            <a:ext cx="4825031" cy="522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6CBC026-6A6B-CC89-7725-460EC867D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37" y="691376"/>
            <a:ext cx="5651809" cy="550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058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737A43-454F-0B0D-E742-A198832C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56" y="267630"/>
            <a:ext cx="11002537" cy="622238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sz="2000" dirty="0"/>
              <a:t>电源引脚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</a:rPr>
              <a:t>1.  VCC </a:t>
            </a:r>
            <a:r>
              <a:rPr lang="zh-CN" altLang="en-US" sz="1800" dirty="0">
                <a:solidFill>
                  <a:schemeClr val="bg1"/>
                </a:solidFill>
              </a:rPr>
              <a:t>外接直流电源引脚，电压范围在</a:t>
            </a:r>
            <a:r>
              <a:rPr lang="en-US" altLang="zh-CN" sz="1800" dirty="0">
                <a:solidFill>
                  <a:schemeClr val="bg1"/>
                </a:solidFill>
              </a:rPr>
              <a:t>5~35V</a:t>
            </a:r>
            <a:r>
              <a:rPr lang="zh-CN" altLang="en-US" sz="1800" dirty="0">
                <a:solidFill>
                  <a:schemeClr val="bg1"/>
                </a:solidFill>
              </a:rPr>
              <a:t>之间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</a:rPr>
              <a:t>2.  GND </a:t>
            </a:r>
            <a:r>
              <a:rPr lang="zh-CN" altLang="en-US" sz="1800" dirty="0">
                <a:solidFill>
                  <a:schemeClr val="bg1"/>
                </a:solidFill>
              </a:rPr>
              <a:t>是接地引脚，连接到电源负极</a:t>
            </a:r>
          </a:p>
          <a:p>
            <a:pPr marL="342900" indent="-342900">
              <a:buAutoNum type="arabicPeriod" startAt="3"/>
            </a:pPr>
            <a:r>
              <a:rPr lang="en-US" altLang="zh-CN" sz="1800" dirty="0">
                <a:solidFill>
                  <a:schemeClr val="bg1"/>
                </a:solidFill>
              </a:rPr>
              <a:t>5V </a:t>
            </a:r>
            <a:r>
              <a:rPr lang="zh-CN" altLang="en-US" sz="1800" dirty="0">
                <a:solidFill>
                  <a:schemeClr val="bg1"/>
                </a:solidFill>
              </a:rPr>
              <a:t>驱动芯片内部逻辑供电引脚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/>
              <a:t>控制引脚</a:t>
            </a:r>
            <a:endParaRPr lang="en-US" altLang="zh-CN" sz="2000" dirty="0"/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lang="en-US" altLang="zh-CN" sz="1800" dirty="0">
                <a:solidFill>
                  <a:schemeClr val="bg1"/>
                </a:solidFill>
              </a:rPr>
              <a:t>IN1 &amp; IN2 </a:t>
            </a:r>
            <a:r>
              <a:rPr lang="zh-CN" altLang="en-US" sz="1800" dirty="0">
                <a:solidFill>
                  <a:schemeClr val="bg1"/>
                </a:solidFill>
              </a:rPr>
              <a:t>电机驱动器</a:t>
            </a:r>
            <a:r>
              <a:rPr lang="en-US" altLang="zh-CN" sz="1800" dirty="0">
                <a:solidFill>
                  <a:schemeClr val="bg1"/>
                </a:solidFill>
              </a:rPr>
              <a:t>A</a:t>
            </a:r>
            <a:r>
              <a:rPr lang="zh-CN" altLang="en-US" sz="1800" dirty="0">
                <a:solidFill>
                  <a:schemeClr val="bg1"/>
                </a:solidFill>
              </a:rPr>
              <a:t>的输入引脚，控制电机转动及旋转角度   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lang="zh-CN" altLang="en-US" sz="1800" dirty="0">
                <a:solidFill>
                  <a:schemeClr val="bg1"/>
                </a:solidFill>
              </a:rPr>
              <a:t> </a:t>
            </a:r>
            <a:r>
              <a:rPr lang="en-US" altLang="zh-CN" sz="1800" dirty="0">
                <a:solidFill>
                  <a:schemeClr val="bg1"/>
                </a:solidFill>
              </a:rPr>
              <a:t>IN1</a:t>
            </a:r>
            <a:r>
              <a:rPr lang="zh-CN" altLang="en-US" sz="1800" dirty="0">
                <a:solidFill>
                  <a:schemeClr val="bg1"/>
                </a:solidFill>
              </a:rPr>
              <a:t>输入高电平</a:t>
            </a:r>
            <a:r>
              <a:rPr lang="en-US" altLang="zh-CN" sz="1800" dirty="0">
                <a:solidFill>
                  <a:schemeClr val="bg1"/>
                </a:solidFill>
              </a:rPr>
              <a:t>HIGH</a:t>
            </a:r>
            <a:r>
              <a:rPr lang="zh-CN" altLang="en-US" sz="1800" dirty="0">
                <a:solidFill>
                  <a:schemeClr val="bg1"/>
                </a:solidFill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</a:rPr>
              <a:t>IN2</a:t>
            </a:r>
            <a:r>
              <a:rPr lang="zh-CN" altLang="en-US" sz="1800" dirty="0">
                <a:solidFill>
                  <a:schemeClr val="bg1"/>
                </a:solidFill>
              </a:rPr>
              <a:t>输入低电平</a:t>
            </a:r>
            <a:r>
              <a:rPr lang="en-US" altLang="zh-CN" sz="1800" dirty="0">
                <a:solidFill>
                  <a:schemeClr val="bg1"/>
                </a:solidFill>
              </a:rPr>
              <a:t>LOW</a:t>
            </a:r>
            <a:r>
              <a:rPr lang="zh-CN" altLang="en-US" sz="1800" dirty="0">
                <a:solidFill>
                  <a:schemeClr val="bg1"/>
                </a:solidFill>
              </a:rPr>
              <a:t>，对应电机正转    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lang="en-US" altLang="zh-CN" sz="1800" dirty="0">
                <a:solidFill>
                  <a:schemeClr val="bg1"/>
                </a:solidFill>
              </a:rPr>
              <a:t>IN1</a:t>
            </a:r>
            <a:r>
              <a:rPr lang="zh-CN" altLang="en-US" sz="1800" dirty="0">
                <a:solidFill>
                  <a:schemeClr val="bg1"/>
                </a:solidFill>
              </a:rPr>
              <a:t>输入低电平</a:t>
            </a:r>
            <a:r>
              <a:rPr lang="en-US" altLang="zh-CN" sz="1800" dirty="0">
                <a:solidFill>
                  <a:schemeClr val="bg1"/>
                </a:solidFill>
              </a:rPr>
              <a:t>LOW</a:t>
            </a:r>
            <a:r>
              <a:rPr lang="zh-CN" altLang="en-US" sz="1800" dirty="0">
                <a:solidFill>
                  <a:schemeClr val="bg1"/>
                </a:solidFill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</a:rPr>
              <a:t>IN2</a:t>
            </a:r>
            <a:r>
              <a:rPr lang="zh-CN" altLang="en-US" sz="1800" dirty="0">
                <a:solidFill>
                  <a:schemeClr val="bg1"/>
                </a:solidFill>
              </a:rPr>
              <a:t>输入高电平</a:t>
            </a:r>
            <a:r>
              <a:rPr lang="en-US" altLang="zh-CN" sz="1800" dirty="0">
                <a:solidFill>
                  <a:schemeClr val="bg1"/>
                </a:solidFill>
              </a:rPr>
              <a:t>HIGH</a:t>
            </a:r>
            <a:r>
              <a:rPr lang="zh-CN" altLang="en-US" sz="1800" dirty="0">
                <a:solidFill>
                  <a:schemeClr val="bg1"/>
                </a:solidFill>
              </a:rPr>
              <a:t>，对应电机</a:t>
            </a:r>
            <a:r>
              <a:rPr lang="en-US" altLang="zh-CN" sz="1800" dirty="0">
                <a:solidFill>
                  <a:schemeClr val="bg1"/>
                </a:solidFill>
              </a:rPr>
              <a:t>A</a:t>
            </a:r>
            <a:r>
              <a:rPr lang="zh-CN" altLang="en-US" sz="1800" dirty="0">
                <a:solidFill>
                  <a:schemeClr val="bg1"/>
                </a:solidFill>
              </a:rPr>
              <a:t>反转   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lang="zh-CN" altLang="en-US" sz="1800" dirty="0">
                <a:solidFill>
                  <a:schemeClr val="bg1"/>
                </a:solidFill>
              </a:rPr>
              <a:t> </a:t>
            </a:r>
            <a:r>
              <a:rPr lang="en-US" altLang="zh-CN" sz="1800" dirty="0">
                <a:solidFill>
                  <a:schemeClr val="bg1"/>
                </a:solidFill>
              </a:rPr>
              <a:t>IN1</a:t>
            </a:r>
            <a:r>
              <a:rPr lang="zh-CN" altLang="en-US" sz="1800" dirty="0">
                <a:solidFill>
                  <a:schemeClr val="bg1"/>
                </a:solidFill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</a:rPr>
              <a:t>IN2</a:t>
            </a:r>
            <a:r>
              <a:rPr lang="zh-CN" altLang="en-US" sz="1800" dirty="0">
                <a:solidFill>
                  <a:schemeClr val="bg1"/>
                </a:solidFill>
              </a:rPr>
              <a:t>同时输入高电平</a:t>
            </a:r>
            <a:r>
              <a:rPr lang="en-US" altLang="zh-CN" sz="1800" dirty="0">
                <a:solidFill>
                  <a:schemeClr val="bg1"/>
                </a:solidFill>
              </a:rPr>
              <a:t>HIGH</a:t>
            </a:r>
            <a:r>
              <a:rPr lang="zh-CN" altLang="en-US" sz="1800" dirty="0">
                <a:solidFill>
                  <a:schemeClr val="bg1"/>
                </a:solidFill>
              </a:rPr>
              <a:t>或低电平</a:t>
            </a:r>
            <a:r>
              <a:rPr lang="en-US" altLang="zh-CN" sz="1800" dirty="0">
                <a:solidFill>
                  <a:schemeClr val="bg1"/>
                </a:solidFill>
              </a:rPr>
              <a:t>LOW</a:t>
            </a:r>
            <a:r>
              <a:rPr lang="zh-CN" altLang="en-US" sz="1800" dirty="0">
                <a:solidFill>
                  <a:schemeClr val="bg1"/>
                </a:solidFill>
              </a:rPr>
              <a:t>，对应电机停止转动    调速就是改变</a:t>
            </a:r>
            <a:r>
              <a:rPr lang="en-US" altLang="zh-CN" sz="1800" dirty="0">
                <a:solidFill>
                  <a:schemeClr val="bg1"/>
                </a:solidFill>
              </a:rPr>
              <a:t>IN1</a:t>
            </a:r>
            <a:r>
              <a:rPr lang="zh-CN" altLang="en-US" sz="1800" dirty="0">
                <a:solidFill>
                  <a:schemeClr val="bg1"/>
                </a:solidFill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</a:rPr>
              <a:t>IN2</a:t>
            </a:r>
            <a:r>
              <a:rPr lang="zh-CN" altLang="en-US" sz="1800" dirty="0">
                <a:solidFill>
                  <a:schemeClr val="bg1"/>
                </a:solidFill>
              </a:rPr>
              <a:t>高电平的占空比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lang="en-US" altLang="zh-CN" sz="1800" dirty="0">
                <a:solidFill>
                  <a:schemeClr val="bg1"/>
                </a:solidFill>
              </a:rPr>
              <a:t>IN3 &amp; IN4 </a:t>
            </a:r>
            <a:r>
              <a:rPr lang="zh-CN" altLang="en-US" sz="1800" dirty="0">
                <a:solidFill>
                  <a:schemeClr val="bg1"/>
                </a:solidFill>
              </a:rPr>
              <a:t>同理。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输出引脚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None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1. OUT1 &amp; OUT2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电机驱动器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的输出引脚，接直流电机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或步进电机的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A+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A-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None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2. OUT3 &amp; OUT3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电机驱动器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的输出引脚，接直流电机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或步进电机的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B+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B-</a:t>
            </a:r>
            <a:endParaRPr lang="en-US" altLang="zh-CN" sz="1900" dirty="0">
              <a:solidFill>
                <a:srgbClr val="FF0000"/>
              </a:solidFill>
              <a:latin typeface="Tw Cen MT" panose="020B0602020104020603"/>
              <a:ea typeface="宋体" panose="02010600030101010101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900" b="0" i="0" dirty="0">
                <a:effectLst/>
                <a:latin typeface="-apple-system"/>
              </a:rPr>
              <a:t>调速控制引脚</a:t>
            </a:r>
            <a:endParaRPr lang="en-US" altLang="zh-CN" sz="1900" b="0" i="0" dirty="0">
              <a:effectLst/>
              <a:latin typeface="-apple-system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ENA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电机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调速开关引脚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AutoNum type="arabicPeriod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ENB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电机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调速开关引脚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1234C4-9BB2-8C53-B834-5EAA1D2BD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619" y="267630"/>
            <a:ext cx="3370183" cy="287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1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CE882-3531-6575-3363-5D72FC635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64995"/>
            <a:ext cx="9905999" cy="5226206"/>
          </a:xfrm>
        </p:spPr>
        <p:txBody>
          <a:bodyPr/>
          <a:lstStyle/>
          <a:p>
            <a:r>
              <a:rPr lang="en-US" altLang="zh-CN" dirty="0"/>
              <a:t>L298N</a:t>
            </a:r>
            <a:r>
              <a:rPr lang="zh-CN" altLang="en-US" dirty="0"/>
              <a:t>外围电路图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EFD7FB-56D1-6C42-6513-7A25D4EB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871" y="1295865"/>
            <a:ext cx="8068372" cy="482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35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TM04033919[[fn=电路]]</Template>
  <TotalTime>4350</TotalTime>
  <Words>885</Words>
  <Application>Microsoft Office PowerPoint</Application>
  <PresentationFormat>宽屏</PresentationFormat>
  <Paragraphs>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-apple-system</vt:lpstr>
      <vt:lpstr>Arial</vt:lpstr>
      <vt:lpstr>Tw Cen MT</vt:lpstr>
      <vt:lpstr>电路</vt:lpstr>
      <vt:lpstr>智能车驱动</vt:lpstr>
      <vt:lpstr>PowerPoint 演示文稿</vt:lpstr>
      <vt:lpstr>什么是电机？</vt:lpstr>
      <vt:lpstr>电机的分类：</vt:lpstr>
      <vt:lpstr>PowerPoint 演示文稿</vt:lpstr>
      <vt:lpstr>H桥电路 </vt:lpstr>
      <vt:lpstr>H桥电路详解：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智能车驱动</dc:title>
  <dc:creator>咏琳 魏</dc:creator>
  <cp:lastModifiedBy>咏琳 魏</cp:lastModifiedBy>
  <cp:revision>3</cp:revision>
  <dcterms:created xsi:type="dcterms:W3CDTF">2024-05-06T12:15:23Z</dcterms:created>
  <dcterms:modified xsi:type="dcterms:W3CDTF">2024-05-09T14:28:15Z</dcterms:modified>
</cp:coreProperties>
</file>